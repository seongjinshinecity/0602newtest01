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B4FE0"/>
              </a:gs>
              <a:gs pos="100000">
                <a:srgbClr val="22C7C7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2011680"/>
            <a:ext cx="99669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331720"/>
            <a:ext cx="9144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1">
                <a:solidFill>
                  <a:srgbClr val="2F6BF6"/>
                </a:solidFill>
                <a:latin typeface="Apple SD Gothic Neo"/>
                <a:ea typeface="Apple SD Gothic Neo"/>
              </a:rPr>
              <a:t>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2461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733"/>
                </a:solidFill>
                <a:latin typeface="Apple SD Gothic Neo"/>
                <a:ea typeface="Apple SD Gothic Neo"/>
              </a:rPr>
              <a:t>카페 소개 · 2026 상반기 사업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379476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785"/>
                </a:solidFill>
                <a:latin typeface="Apple SD Gothic Neo"/>
                <a:ea typeface="Apple SD Gothic Neo"/>
              </a:rPr>
              <a:t>분기마다 메뉴·공간·디저트를 통째로 바꾸는 블랙·스테인리스 메탈 미니멀 프리미엄 카페</a:t>
            </a:r>
          </a:p>
          <a:p>
            <a:pPr algn="l"/>
            <a:r>
              <a:rPr sz="1300" b="1">
                <a:solidFill>
                  <a:srgbClr val="22C7C7"/>
                </a:solidFill>
                <a:latin typeface="Apple SD Gothic Neo"/>
                <a:ea typeface="Apple SD Gothic Neo"/>
              </a:rPr>
              <a:t>슬로건 — "시즌마다, 새로 짓다"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>
            <a:gsLst>
              <a:gs pos="0">
                <a:srgbClr val="2F6BF6"/>
              </a:gs>
              <a:gs pos="100000">
                <a:srgbClr val="22C7C7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</a:rPr>
              <a:t>컨셉 한 장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400" b="1">
                <a:solidFill>
                  <a:srgbClr val="CFE2FF"/>
                </a:solidFill>
                <a:latin typeface="Apple SD Gothic Neo"/>
                <a:ea typeface="Apple SD Gothic Neo"/>
              </a:rPr>
              <a:t>01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8869680"/>
              </a:tblGrid>
              <a:tr h="6172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2F6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2F6BF6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① 타겟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메인 대화·사진 손님(친구·연인·모임, 인스타) / 서브 디저트 손님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② 위치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핫플 상권(성수·연남·익선 등) — 노출 강함, 임대료·경쟁 높음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③ 시그니처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시즌 한정 메뉴 — 계절마다 교체, 재방문·SNS 떡밥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④ 공간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미니멀 골격 + 블랙·스테인리스 소재, 차갑고 시크하게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⑤ 가격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프리미엄(아메리카노 6,500~8,000원)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⑥ 차별점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'그 메탈 카페' 각인 + 분기마다 싹 교체 + 분기 1회 파티시에 콜라보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⑦ 이름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QUARTER — 로고는 Q 한 글자 활용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>
            <a:gsLst>
              <a:gs pos="0">
                <a:srgbClr val="2F6BF6"/>
              </a:gs>
              <a:gs pos="100000">
                <a:srgbClr val="22C7C7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</a:rPr>
              <a:t>2026 상반기 월별 매출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400" b="1">
                <a:solidFill>
                  <a:srgbClr val="CFE2FF"/>
                </a:solidFill>
                <a:latin typeface="Apple SD Gothic Neo"/>
                <a:ea typeface="Apple SD Gothic Neo"/>
              </a:rPr>
              <a:t>02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80160" y="1325880"/>
          <a:ext cx="96012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2011680"/>
                <a:gridCol w="2011680"/>
                <a:gridCol w="2011680"/>
                <a:gridCol w="2011680"/>
              </a:tblGrid>
              <a:tr h="508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월</a:t>
                      </a:r>
                    </a:p>
                  </a:txBody>
                  <a:tcPr marL="54864" marR="54864" marT="18288" marB="18288" anchor="ctr">
                    <a:solidFill>
                      <a:srgbClr val="5B8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매출 ($)</a:t>
                      </a:r>
                    </a:p>
                  </a:txBody>
                  <a:tcPr marL="54864" marR="54864" marT="18288" marB="18288" anchor="ctr">
                    <a:solidFill>
                      <a:srgbClr val="5B8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비용 ($)</a:t>
                      </a:r>
                    </a:p>
                  </a:txBody>
                  <a:tcPr marL="54864" marR="54864" marT="18288" marB="18288" anchor="ctr">
                    <a:solidFill>
                      <a:srgbClr val="5B8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이익 ($)</a:t>
                      </a:r>
                    </a:p>
                  </a:txBody>
                  <a:tcPr marL="54864" marR="54864" marT="18288" marB="18288" anchor="ctr">
                    <a:solidFill>
                      <a:srgbClr val="5B8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전월 대비</a:t>
                      </a:r>
                    </a:p>
                  </a:txBody>
                  <a:tcPr marL="54864" marR="54864" marT="18288" marB="18288" anchor="ctr">
                    <a:solidFill>
                      <a:srgbClr val="5B8DE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1월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12,000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7,000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5,000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2월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13,500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7,200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6,300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+12.5%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3월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15,800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8,100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7,700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+17.0%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4월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14,200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7,800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6,400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-10.1%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5월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17,600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8,500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9,100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+23.9%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6월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19,300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9,100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10,200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+9.7%</a:t>
                      </a:r>
                    </a:p>
                  </a:txBody>
                  <a:tcPr marL="54864" marR="54864" marT="18288" marB="18288" anchor="ctr">
                    <a:solidFill>
                      <a:srgbClr val="F4F8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92,400</a:t>
                      </a:r>
                    </a:p>
                  </a:txBody>
                  <a:tcPr marL="54864" marR="54864" marT="18288" marB="18288" anchor="ctr"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47,700</a:t>
                      </a:r>
                    </a:p>
                  </a:txBody>
                  <a:tcPr marL="54864" marR="54864" marT="18288" marB="18288" anchor="ctr"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44,700</a:t>
                      </a:r>
                    </a:p>
                  </a:txBody>
                  <a:tcPr marL="54864" marR="54864" marT="18288" marB="18288" anchor="ctr"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E8F0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평균</a:t>
                      </a:r>
                    </a:p>
                  </a:txBody>
                  <a:tcPr marL="54864" marR="54864" marT="18288" marB="18288" anchor="ctr"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15,400</a:t>
                      </a:r>
                    </a:p>
                  </a:txBody>
                  <a:tcPr marL="54864" marR="54864" marT="18288" marB="18288" anchor="ctr"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7,950</a:t>
                      </a:r>
                    </a:p>
                  </a:txBody>
                  <a:tcPr marL="54864" marR="54864" marT="18288" marB="18288" anchor="ctr"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7,450</a:t>
                      </a:r>
                    </a:p>
                  </a:txBody>
                  <a:tcPr marL="54864" marR="54864" marT="18288" marB="18288" anchor="ctr"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2733"/>
                          </a:solidFill>
                          <a:latin typeface="Apple SD Gothic Neo"/>
                          <a:ea typeface="Apple SD Gothic Neo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80160" y="5989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ple SD Gothic Neo"/>
                <a:ea typeface="Apple SD Gothic Neo"/>
              </a:rPr>
              <a:t>※ QUARTER_월별매출.xlsx 시트의 데이터입니다.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>
            <a:gsLst>
              <a:gs pos="0">
                <a:srgbClr val="2F6BF6"/>
              </a:gs>
              <a:gs pos="100000">
                <a:srgbClr val="22C7C7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</a:rPr>
              <a:t>매출 추이 &amp; 수익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400" b="1">
                <a:solidFill>
                  <a:srgbClr val="CFE2FF"/>
                </a:solidFill>
                <a:latin typeface="Apple SD Gothic Neo"/>
                <a:ea typeface="Apple SD Gothic Neo"/>
              </a:rPr>
              <a:t>03</a:t>
            </a:r>
          </a:p>
        </p:txBody>
      </p:sp>
      <p:pic>
        <p:nvPicPr>
          <p:cNvPr id="5" name="Picture 4" descr="char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498079" cy="3788199"/>
          </a:xfrm>
          <a:prstGeom prst="rect">
            <a:avLst/>
          </a:prstGeom>
        </p:spPr>
      </p:pic>
      <p:pic>
        <p:nvPicPr>
          <p:cNvPr id="6" name="Picture 5" descr="chart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54480"/>
            <a:ext cx="3566160" cy="3209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Apple SD Gothic Neo"/>
                <a:ea typeface="Apple SD Gothic Neo"/>
              </a:rPr>
              <a:t>월별 매출(막대) &amp; 이익(선) 추이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486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6BF6"/>
                </a:solidFill>
                <a:latin typeface="Apple SD Gothic Neo"/>
                <a:ea typeface="Apple SD Gothic Neo"/>
              </a:rPr>
              <a:t>누적 이익률 48%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