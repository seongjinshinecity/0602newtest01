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B4FE0"/>
              </a:gs>
              <a:gs pos="100000">
                <a:srgbClr val="22C7C7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1874519"/>
            <a:ext cx="101498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17320" y="2286000"/>
            <a:ext cx="146304" cy="1554480"/>
          </a:xfrm>
          <a:prstGeom prst="roundRect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83080" y="2240280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6BF6"/>
                </a:solidFill>
                <a:latin typeface="Apple SD Gothic Neo"/>
                <a:ea typeface="Apple SD Gothic Neo"/>
              </a:rPr>
              <a:t>하버 카페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697480"/>
            <a:ext cx="8961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F2733"/>
                </a:solidFill>
                <a:latin typeface="Apple SD Gothic Neo"/>
                <a:ea typeface="Apple SD Gothic Neo"/>
              </a:rPr>
              <a:t>2026 1분기 실적 보고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3794760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785"/>
                </a:solidFill>
                <a:latin typeface="Apple SD Gothic Neo"/>
                <a:ea typeface="Apple SD Gothic Neo"/>
              </a:rPr>
              <a:t>3 ~ 5월 운영 결과 · 2분기 실행안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무엇이 매출을 끌어올렸나 · 다음엔 어디에 투자할까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gradFill>
            <a:gsLst>
              <a:gs pos="0">
                <a:srgbClr val="2F6BF6"/>
              </a:gs>
              <a:gs pos="100000">
                <a:srgbClr val="22C7C7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ple SD Gothic Neo"/>
                <a:ea typeface="Apple SD Gothic Neo"/>
              </a:rPr>
              <a:t>배경 ·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09728"/>
            <a:ext cx="868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>
                <a:solidFill>
                  <a:srgbClr val="CFE2FF"/>
                </a:solidFill>
                <a:latin typeface="Apple SD Gothic Neo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6BF6"/>
                </a:solidFill>
                <a:latin typeface="Apple SD Gothic Neo"/>
                <a:ea typeface="Apple SD Gothic Neo"/>
              </a:rPr>
              <a:t>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733"/>
                </a:solidFill>
                <a:latin typeface="Apple SD Gothic Neo"/>
                <a:ea typeface="Apple SD Gothic Neo"/>
              </a:rPr>
              <a:t>•  1분기(3~5월) 운영 결과를 정리하고 2분기 실행안을 제안한다.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733"/>
                </a:solidFill>
                <a:latin typeface="Apple SD Gothic Neo"/>
                <a:ea typeface="Apple SD Gothic Neo"/>
              </a:rPr>
              <a:t>•  매출은 매월 성장했고, 영업이익률도 29.5% → 36.1%로 개선됐다.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6BF6"/>
                </a:solidFill>
                <a:latin typeface="Apple SD Gothic Neo"/>
                <a:ea typeface="Apple SD Gothic Neo"/>
              </a:rPr>
              <a:t>핵심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5029200" cy="1828800"/>
          </a:xfrm>
          <a:prstGeom prst="round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3794760"/>
            <a:ext cx="5029200" cy="1828800"/>
          </a:xfrm>
          <a:prstGeom prst="round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069080"/>
            <a:ext cx="4480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F6BF6"/>
                </a:solidFill>
                <a:latin typeface="Apple SD Gothic Neo"/>
                <a:ea typeface="Apple SD Gothic Neo"/>
              </a:rPr>
              <a:t>Q1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733"/>
                </a:solidFill>
                <a:latin typeface="Apple SD Gothic Neo"/>
                <a:ea typeface="Apple SD Gothic Neo"/>
              </a:rPr>
              <a:t>무엇이 매출을
끌어올렸나?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069080"/>
            <a:ext cx="4480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2C7C7"/>
                </a:solidFill>
                <a:latin typeface="Apple SD Gothic Neo"/>
                <a:ea typeface="Apple SD Gothic Neo"/>
              </a:rPr>
              <a:t>Q2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733"/>
                </a:solidFill>
                <a:latin typeface="Apple SD Gothic Neo"/>
                <a:ea typeface="Apple SD Gothic Neo"/>
              </a:rPr>
              <a:t>다음엔 어디에
투자할까?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gradFill>
            <a:gsLst>
              <a:gs pos="0">
                <a:srgbClr val="2F6BF6"/>
              </a:gs>
              <a:gs pos="100000">
                <a:srgbClr val="22C7C7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ple SD Gothic Neo"/>
                <a:ea typeface="Apple SD Gothic Neo"/>
              </a:rPr>
              <a:t>분석 — 무엇이 매출을 끌어올렸나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09728"/>
            <a:ext cx="868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>
                <a:solidFill>
                  <a:srgbClr val="CFE2FF"/>
                </a:solidFill>
                <a:latin typeface="Apple SD Gothic Neo"/>
                <a:ea typeface="Apple SD Gothic Neo"/>
              </a:rPr>
              <a:t>02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5943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/>
                <a:gridCol w="1417320"/>
                <a:gridCol w="1417320"/>
                <a:gridCol w="141732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월</a:t>
                      </a:r>
                    </a:p>
                  </a:txBody>
                  <a:tcPr anchor="ctr" marL="64008" marR="64008" marT="18288" marB="18288"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매출</a:t>
                      </a:r>
                    </a:p>
                  </a:txBody>
                  <a:tcPr anchor="ctr" marL="64008" marR="64008" marT="18288" marB="18288"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비용</a:t>
                      </a:r>
                    </a:p>
                  </a:txBody>
                  <a:tcPr anchor="ctr" marL="64008" marR="64008" marT="18288" marB="18288"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영업이익</a:t>
                      </a:r>
                    </a:p>
                  </a:txBody>
                  <a:tcPr anchor="ctr" marL="64008" marR="64008" marT="18288" marB="18288"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이익률</a:t>
                      </a:r>
                    </a:p>
                  </a:txBody>
                  <a:tcPr anchor="ctr" marL="64008" marR="64008" marT="18288" marB="18288">
                    <a:solidFill>
                      <a:srgbClr val="5B8D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3월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6,810,000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4,800,000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2,010,000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29.5%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4월</a:t>
                      </a:r>
                    </a:p>
                  </a:txBody>
                  <a:tcPr anchor="ctr" marL="64008" marR="64008" marT="18288" marB="18288"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7,550,000</a:t>
                      </a:r>
                    </a:p>
                  </a:txBody>
                  <a:tcPr anchor="ctr" marL="64008" marR="64008" marT="18288" marB="18288"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5,150,000</a:t>
                      </a:r>
                    </a:p>
                  </a:txBody>
                  <a:tcPr anchor="ctr" marL="64008" marR="64008" marT="18288" marB="18288"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2,400,000</a:t>
                      </a:r>
                    </a:p>
                  </a:txBody>
                  <a:tcPr anchor="ctr" marL="64008" marR="64008" marT="18288" marB="18288"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31.8%</a:t>
                      </a:r>
                    </a:p>
                  </a:txBody>
                  <a:tcPr anchor="ctr" marL="64008" marR="64008" marT="18288" marB="18288">
                    <a:solidFill>
                      <a:srgbClr val="F4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5월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8,610,000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5,500,000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3,110,000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36.1%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합계</a:t>
                      </a:r>
                    </a:p>
                  </a:txBody>
                  <a:tcPr anchor="ctr" marL="64008" marR="64008" marT="18288" marB="18288"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22,970,000</a:t>
                      </a:r>
                    </a:p>
                  </a:txBody>
                  <a:tcPr anchor="ctr" marL="64008" marR="64008" marT="18288" marB="18288"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15,450,000</a:t>
                      </a:r>
                    </a:p>
                  </a:txBody>
                  <a:tcPr anchor="ctr" marL="64008" marR="64008" marT="18288" marB="18288"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7,520,000</a:t>
                      </a:r>
                    </a:p>
                  </a:txBody>
                  <a:tcPr anchor="ctr" marL="64008" marR="64008" marT="18288" marB="18288"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32.7%</a:t>
                      </a:r>
                    </a:p>
                  </a:txBody>
                  <a:tcPr anchor="ctr" marL="64008" marR="64008" marT="18288" marB="18288"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383280"/>
            <a:ext cx="56692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F6BF6"/>
                </a:solidFill>
                <a:latin typeface="Apple SD Gothic Neo"/>
                <a:ea typeface="Apple SD Gothic Neo"/>
              </a:rPr>
              <a:t>핵심 발견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733"/>
                </a:solidFill>
                <a:latin typeface="Apple SD Gothic Neo"/>
                <a:ea typeface="Apple SD Gothic Neo"/>
              </a:rPr>
              <a:t>•  음료가 성장 엔진 — 매출의 64%, 매월 증가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733"/>
                </a:solidFill>
                <a:latin typeface="Apple SD Gothic Neo"/>
                <a:ea typeface="Apple SD Gothic Neo"/>
              </a:rPr>
              <a:t>•  디저트가 제2 기둥 — 5월 2.25M 급증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733"/>
                </a:solidFill>
                <a:latin typeface="Apple SD Gothic Neo"/>
                <a:ea typeface="Apple SD Gothic Neo"/>
              </a:rPr>
              <a:t>•  마케팅 투입↑ 와 매출↑ 동반 상승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733"/>
                </a:solidFill>
                <a:latin typeface="Apple SD Gothic Neo"/>
                <a:ea typeface="Apple SD Gothic Neo"/>
              </a:rPr>
              <a:t>•  비용은 매출 연동·임대료 고정 → 이익률 개선</a:t>
            </a:r>
          </a:p>
        </p:txBody>
      </p:sp>
      <p:pic>
        <p:nvPicPr>
          <p:cNvPr id="7" name="Picture 6" descr="chart_q1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577840" cy="3173720"/>
          </a:xfrm>
          <a:prstGeom prst="rect">
            <a:avLst/>
          </a:prstGeom>
        </p:spPr>
      </p:pic>
      <p:pic>
        <p:nvPicPr>
          <p:cNvPr id="8" name="Picture 7" descr="chart_q1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160520"/>
            <a:ext cx="5212080" cy="34995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gradFill>
            <a:gsLst>
              <a:gs pos="0">
                <a:srgbClr val="2F6BF6"/>
              </a:gs>
              <a:gs pos="100000">
                <a:srgbClr val="22C7C7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ple SD Gothic Neo"/>
                <a:ea typeface="Apple SD Gothic Neo"/>
              </a:rPr>
              <a:t>추천 — 어디에 투자할까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09728"/>
            <a:ext cx="868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>
                <a:solidFill>
                  <a:srgbClr val="CFE2FF"/>
                </a:solidFill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07008"/>
            <a:ext cx="5257800" cy="1737360"/>
          </a:xfrm>
          <a:prstGeom prst="round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463040"/>
            <a:ext cx="603504" cy="603504"/>
          </a:xfrm>
          <a:prstGeom prst="ellipse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1444752"/>
            <a:ext cx="4069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733"/>
                </a:solidFill>
                <a:latin typeface="Apple SD Gothic Neo"/>
                <a:ea typeface="Apple SD Gothic Neo"/>
              </a:rPr>
              <a:t>시그니처 음료 강화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ple SD Gothic Neo"/>
                <a:ea typeface="Apple SD Gothic Neo"/>
              </a:rPr>
              <a:t>최대·고성장 카테고리. 신메뉴 2종으로 객단가·재방문 동시 공략.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07008"/>
            <a:ext cx="5257800" cy="1737360"/>
          </a:xfrm>
          <a:prstGeom prst="round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463040"/>
            <a:ext cx="603504" cy="603504"/>
          </a:xfrm>
          <a:prstGeom prst="ellipse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44752"/>
            <a:ext cx="4069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733"/>
                </a:solidFill>
                <a:latin typeface="Apple SD Gothic Neo"/>
                <a:ea typeface="Apple SD Gothic Neo"/>
              </a:rPr>
              <a:t>디저트를 제2 매출원으로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121408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ple SD Gothic Neo"/>
                <a:ea typeface="Apple SD Gothic Neo"/>
              </a:rPr>
              <a:t>음료+디저트 세트로 객단가 상승 여력 확보.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27248"/>
            <a:ext cx="5257800" cy="1737360"/>
          </a:xfrm>
          <a:prstGeom prst="round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383280"/>
            <a:ext cx="603504" cy="603504"/>
          </a:xfrm>
          <a:prstGeom prst="ellipse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39" y="3364991"/>
            <a:ext cx="4069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733"/>
                </a:solidFill>
                <a:latin typeface="Apple SD Gothic Neo"/>
                <a:ea typeface="Apple SD Gothic Neo"/>
              </a:rPr>
              <a:t>주말·마케팅 ROI 확대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41648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ple SD Gothic Neo"/>
                <a:ea typeface="Apple SD Gothic Neo"/>
              </a:rPr>
              <a:t>마케팅비 대비 매출 반응 우수. 주말 프로모션+광고 테스트.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27248"/>
            <a:ext cx="5257800" cy="1737360"/>
          </a:xfrm>
          <a:prstGeom prst="round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59" y="3383280"/>
            <a:ext cx="603504" cy="603504"/>
          </a:xfrm>
          <a:prstGeom prst="ellipse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364991"/>
            <a:ext cx="4069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733"/>
                </a:solidFill>
                <a:latin typeface="Apple SD Gothic Neo"/>
                <a:ea typeface="Apple SD Gothic Neo"/>
              </a:rPr>
              <a:t>이익률 방어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4041648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ple SD Gothic Neo"/>
                <a:ea typeface="Apple SD Gothic Neo"/>
              </a:rPr>
              <a:t>인건비·재료비를 매출 대비 비율 관리, 회전율 유지.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74920"/>
            <a:ext cx="10881360" cy="1417320"/>
          </a:xfrm>
          <a:prstGeom prst="roundRect">
            <a:avLst/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846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BF6"/>
                </a:solidFill>
                <a:latin typeface="Apple SD Gothic Neo"/>
                <a:ea typeface="Apple SD Gothic Neo"/>
              </a:rPr>
              <a:t>마케팅 솔루션 — 우선순위 (ROI 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23559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733"/>
                </a:solidFill>
                <a:latin typeface="Apple SD Gothic Neo"/>
                <a:ea typeface="Apple SD Gothic Neo"/>
              </a:rPr>
              <a:t>① 재방문·단골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893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</a:rPr>
              <a:t>카카오 채널·알림톡 / 적립 멤버십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5623559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733"/>
                </a:solidFill>
                <a:latin typeface="Apple SD Gothic Neo"/>
                <a:ea typeface="Apple SD Gothic Neo"/>
              </a:rPr>
              <a:t>② 로컬 노출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59893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</a:rPr>
              <a:t>네이버 플레이스 / 예약·웨이팅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5623559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733"/>
                </a:solidFill>
                <a:latin typeface="Apple SD Gothic Neo"/>
                <a:ea typeface="Apple SD Gothic Neo"/>
              </a:rPr>
              <a:t>③ 유료 광고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776" y="59893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</a:rPr>
              <a:t>인스타 릴스·메타 / 당근 비즈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5623559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733"/>
                </a:solidFill>
                <a:latin typeface="Apple SD Gothic Neo"/>
                <a:ea typeface="Apple SD Gothic Neo"/>
              </a:rPr>
              <a:t>④ 측정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59893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</a:rPr>
              <a:t>UTM·쿠폰코드 / 손익 ROI 추적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gradFill>
            <a:gsLst>
              <a:gs pos="0">
                <a:srgbClr val="2F6BF6"/>
              </a:gs>
              <a:gs pos="100000">
                <a:srgbClr val="22C7C7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ple SD Gothic Neo"/>
                <a:ea typeface="Apple SD Gothic Neo"/>
              </a:rPr>
              <a:t>다음 액션 (2분기)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09728"/>
            <a:ext cx="868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>
                <a:solidFill>
                  <a:srgbClr val="CFE2FF"/>
                </a:solidFill>
                <a:latin typeface="Apple SD Gothic Neo"/>
                <a:ea typeface="Apple SD Gothic Neo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310896" cy="310896"/>
          </a:xfrm>
          <a:prstGeom prst="roundRect">
            <a:avLst/>
          </a:prstGeom>
          <a:solidFill>
            <a:srgbClr val="22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733"/>
                </a:solidFill>
                <a:latin typeface="Apple SD Gothic Neo"/>
                <a:ea typeface="Apple SD Gothic Neo"/>
              </a:rPr>
              <a:t>6월 — 시그니처 음료 신메뉴 2종 출시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12848"/>
            <a:ext cx="310896" cy="310896"/>
          </a:xfrm>
          <a:prstGeom prst="roundRect">
            <a:avLst/>
          </a:prstGeom>
          <a:solidFill>
            <a:srgbClr val="22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671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733"/>
                </a:solidFill>
                <a:latin typeface="Apple SD Gothic Neo"/>
                <a:ea typeface="Apple SD Gothic Neo"/>
              </a:rPr>
              <a:t>6월 — 음료+디저트 세트 메뉴 런칭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71215"/>
            <a:ext cx="310896" cy="310896"/>
          </a:xfrm>
          <a:prstGeom prst="roundRect">
            <a:avLst/>
          </a:prstGeom>
          <a:solidFill>
            <a:srgbClr val="22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25496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733"/>
                </a:solidFill>
                <a:latin typeface="Apple SD Gothic Neo"/>
                <a:ea typeface="Apple SD Gothic Neo"/>
              </a:rPr>
              <a:t>주말 한정 프로모션 + 인스타 광고 예산 1.5배 A/B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29583"/>
            <a:ext cx="310896" cy="310896"/>
          </a:xfrm>
          <a:prstGeom prst="roundRect">
            <a:avLst/>
          </a:prstGeom>
          <a:solidFill>
            <a:srgbClr val="22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83863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733"/>
                </a:solidFill>
                <a:latin typeface="Apple SD Gothic Neo"/>
                <a:ea typeface="Apple SD Gothic Neo"/>
              </a:rPr>
              <a:t>월별 손익 대시보드(SUMIFS 리포트) 정례 리뷰 — 매월 첫 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325112"/>
            <a:ext cx="10607040" cy="1051560"/>
          </a:xfrm>
          <a:prstGeom prst="rect">
            <a:avLst/>
          </a:prstGeom>
          <a:gradFill>
            <a:gsLst>
              <a:gs pos="0">
                <a:srgbClr val="2F6BF6"/>
              </a:gs>
              <a:gs pos="100000">
                <a:srgbClr val="22C7C7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70831"/>
            <a:ext cx="10058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FE2FF"/>
                </a:solidFill>
                <a:latin typeface="Apple SD Gothic Neo"/>
                <a:ea typeface="Apple SD Gothic Neo"/>
              </a:rPr>
              <a:t>2분기 목표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</a:rPr>
              <a:t>월 매출 1,000만 돌파  ·  영업이익률 38% 유지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