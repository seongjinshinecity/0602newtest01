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CE2D0"/>
                </a:solidFill>
                <a:latin typeface="Georgia"/>
              </a:rPr>
              <a:t>데일리브루 경쟁사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E8C9CF"/>
                </a:solidFill>
                <a:latin typeface="Georgia"/>
              </a:rPr>
              <a:t>성수동 반경 500m — 우리는 어디서 이기는가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26769"/>
                </a:solidFill>
                <a:latin typeface="Georgia"/>
              </a:rPr>
              <a:t>DAILY BREW  ·  2026. 07. 08  ·  하버스쿨 5주차 [조사] 퀘스트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77639"/>
            <a:ext cx="3383280" cy="18288"/>
          </a:xfrm>
          <a:prstGeom prst="roundRect">
            <a:avLst/>
          </a:prstGeom>
          <a:solidFill>
            <a:srgbClr val="D9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9A85A"/>
                </a:solidFill>
                <a:latin typeface="Georgia"/>
              </a:rPr>
              <a:t>"매일 굽는 디저트, 데일리브루"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6D2E46"/>
                </a:solidFill>
                <a:latin typeface="Georgia"/>
              </a:rPr>
              <a:t>시장 개요 — 성수동 골목 상권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56616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6D2E46"/>
                </a:solidFill>
                <a:latin typeface="Georgia"/>
              </a:rPr>
              <a:t>4곳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1B22"/>
                </a:solidFill>
                <a:latin typeface="Calibri"/>
              </a:rPr>
              <a:t>반경 500m 직접 경쟁 카페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A60"/>
                </a:solidFill>
                <a:latin typeface="Calibri"/>
              </a:rPr>
              <a:t>빈브라더스 · 카페모노 · 스윗아워 · 데일리브루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356616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05740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6D2E46"/>
                </a:solidFill>
                <a:latin typeface="Georgia"/>
              </a:rPr>
              <a:t>4,000~5,000원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154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1B22"/>
                </a:solidFill>
                <a:latin typeface="Calibri"/>
              </a:rPr>
              <a:t>아메리카노 가격 박스권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79476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A60"/>
                </a:solidFill>
                <a:latin typeface="Calibri"/>
              </a:rPr>
              <a:t>가격 경쟁 여지 없음 → 제품·경험 차별화 필수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56616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05740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6D2E46"/>
                </a:solidFill>
                <a:latin typeface="Georgia"/>
              </a:rPr>
              <a:t>5.2배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154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1B22"/>
                </a:solidFill>
                <a:latin typeface="Calibri"/>
              </a:rPr>
              <a:t>팔로워 격차 (12,500 vs 2,400)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79476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5A60"/>
                </a:solidFill>
                <a:latin typeface="Calibri"/>
              </a:rPr>
              <a:t>제품력 대비 인지도가 병목 — 홍보가 과제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B1B22"/>
                </a:solidFill>
                <a:latin typeface="Calibri"/>
              </a:rPr>
              <a:t>핵심 질문 — 디저트 강자 스윗아워도 외주·냉동 베이스.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2B1B22"/>
                </a:solidFill>
                <a:latin typeface="Calibri"/>
              </a:rPr>
              <a:t>"매장에서 매일 직접 굽는 집"이라는 자리는 아직 비어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6D2E46"/>
                </a:solidFill>
                <a:latin typeface="Georgia"/>
              </a:rPr>
              <a:t>경쟁사 비교 — 4개 카페 한눈에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54580"/>
                <a:gridCol w="2354580"/>
                <a:gridCol w="2354580"/>
                <a:gridCol w="2354580"/>
              </a:tblGrid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CE2D0"/>
                          </a:solidFill>
                          <a:latin typeface="Calibri"/>
                        </a:rPr>
                        <a:t>항목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CE2D0"/>
                          </a:solidFill>
                          <a:latin typeface="Calibri"/>
                        </a:rPr>
                        <a:t>빈브라더스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CE2D0"/>
                          </a:solidFill>
                          <a:latin typeface="Calibri"/>
                        </a:rPr>
                        <a:t>카페모노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CE2D0"/>
                          </a:solidFill>
                          <a:latin typeface="Calibri"/>
                        </a:rPr>
                        <a:t>스윗아워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CE2D0"/>
                          </a:solidFill>
                          <a:latin typeface="Calibri"/>
                        </a:rPr>
                        <a:t>데일리브루 ★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B1B22"/>
                          </a:solidFill>
                          <a:latin typeface="Calibri"/>
                        </a:rPr>
                        <a:t>아메리카노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5,000원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4,000원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4,800원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B1B22"/>
                          </a:solidFill>
                          <a:latin typeface="Calibri"/>
                        </a:rPr>
                        <a:t>4,500원</a:t>
                      </a:r>
                    </a:p>
                  </a:txBody>
                  <a:tcPr>
                    <a:solidFill>
                      <a:srgbClr val="F3DDE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B1B22"/>
                          </a:solidFill>
                          <a:latin typeface="Calibri"/>
                        </a:rPr>
                        <a:t>시그니처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핸드드립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대용량 라떼 1L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수제 마카롱·케이크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B1B22"/>
                          </a:solidFill>
                          <a:latin typeface="Calibri"/>
                        </a:rPr>
                        <a:t>매일 굽는 치즈케이크·크로플</a:t>
                      </a:r>
                    </a:p>
                  </a:txBody>
                  <a:tcPr>
                    <a:solidFill>
                      <a:srgbClr val="F3DDE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B1B22"/>
                          </a:solidFill>
                          <a:latin typeface="Calibri"/>
                        </a:rPr>
                        <a:t>좌석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60석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18석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32석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B1B22"/>
                          </a:solidFill>
                          <a:latin typeface="Calibri"/>
                        </a:rPr>
                        <a:t>24석</a:t>
                      </a:r>
                    </a:p>
                  </a:txBody>
                  <a:tcPr>
                    <a:solidFill>
                      <a:srgbClr val="F3DDE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B1B22"/>
                          </a:solidFill>
                          <a:latin typeface="Calibri"/>
                        </a:rPr>
                        <a:t>팔로워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8,200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3,100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12,500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B1B22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3DDE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B1B22"/>
                          </a:solidFill>
                          <a:latin typeface="Calibri"/>
                        </a:rPr>
                        <a:t>강점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원두 브랜드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가성비·회전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디저트 비주얼·SNS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B1B22"/>
                          </a:solidFill>
                          <a:latin typeface="Calibri"/>
                        </a:rPr>
                        <a:t>당일 제조 신선도·카공 친화</a:t>
                      </a:r>
                    </a:p>
                  </a:txBody>
                  <a:tcPr>
                    <a:solidFill>
                      <a:srgbClr val="F3DDE2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B1B22"/>
                          </a:solidFill>
                          <a:latin typeface="Calibri"/>
                        </a:rPr>
                        <a:t>약점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디저트 외주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디저트 없음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1B22"/>
                          </a:solidFill>
                          <a:latin typeface="Calibri"/>
                        </a:rPr>
                        <a:t>외주·냉동 베이스</a:t>
                      </a:r>
                    </a:p>
                  </a:txBody>
                  <a:tcPr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B1B22"/>
                          </a:solidFill>
                          <a:latin typeface="Calibri"/>
                        </a:rPr>
                        <a:t>인지도·주말 웨이팅</a:t>
                      </a:r>
                    </a:p>
                  </a:txBody>
                  <a:tcPr>
                    <a:solidFill>
                      <a:srgbClr val="F3DDE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D2E46"/>
                </a:solidFill>
                <a:latin typeface="Calibri"/>
              </a:rPr>
              <a:t>팔로워는 최하위지만, "당일 제조 디저트"는 4곳 중 유일 — 제품의 자리는 확보, 알리는 일이 남았다.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6D2E46"/>
                </a:solidFill>
                <a:latin typeface="Georgia"/>
              </a:rPr>
              <a:t>데일리브루 차별화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881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A26769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4592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D2E46"/>
                </a:solidFill>
                <a:latin typeface="Calibri"/>
              </a:rPr>
              <a:t>당일 제조 디저트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62763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1B22"/>
                </a:solidFill>
                <a:latin typeface="Calibri"/>
              </a:rPr>
              <a:t>반경 내 유일한 "매장에서 매일 굽는" 카페.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1B22"/>
                </a:solidFill>
                <a:latin typeface="Calibri"/>
              </a:rPr>
              <a:t>오픈 주방·굽는 시간 공개로 눈으로 증명한다.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10881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9272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A26769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24612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D2E46"/>
                </a:solidFill>
                <a:latin typeface="Calibri"/>
              </a:rPr>
              <a:t>카공 친화 공간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22783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1B22"/>
                </a:solidFill>
                <a:latin typeface="Calibri"/>
              </a:rPr>
              <a:t>콘센트·와이파이·1인석. 스윗아워(모임 위주),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1B22"/>
                </a:solidFill>
                <a:latin typeface="Calibri"/>
              </a:rPr>
              <a:t>카페모노(체류 불가)와 다른 "오래 머무는" 경험.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63440"/>
            <a:ext cx="10881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19472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A26769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84632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D2E46"/>
                </a:solidFill>
                <a:latin typeface="Calibri"/>
              </a:rPr>
              <a:t>시그니처 집중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828031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1B22"/>
                </a:solidFill>
                <a:latin typeface="Calibri"/>
              </a:rPr>
              <a:t>치즈케이크·크로플 두 축. 주방 협소 제약을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1B22"/>
                </a:solidFill>
                <a:latin typeface="Calibri"/>
              </a:rPr>
              <a:t>"가짓수 대신 품질"이라는 브랜드로 전환.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CE2D0"/>
                </a:solidFill>
                <a:latin typeface="Georgia"/>
              </a:rPr>
              <a:t>추천 액션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10881360" cy="1234440"/>
          </a:xfrm>
          <a:prstGeom prst="roundRect">
            <a:avLst/>
          </a:prstGeom>
          <a:solidFill>
            <a:srgbClr val="7E3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91639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CE2D0"/>
                </a:solidFill>
                <a:latin typeface="Calibri"/>
              </a:rPr>
              <a:t>1.  베이킹 타임 콘텐츠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1284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C9CF"/>
                </a:solidFill>
                <a:latin typeface="Calibri"/>
              </a:rPr>
              <a:t>매일 굽는 장면을 릴스로 — 팔로워 격차(5.2배) 해소의 최저비용 수단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901952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D9A85A"/>
                </a:solidFill>
                <a:latin typeface="Calibri"/>
              </a:rPr>
              <a:t>이번 주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10881360" cy="1234440"/>
          </a:xfrm>
          <a:prstGeom prst="roundRect">
            <a:avLst/>
          </a:prstGeom>
          <a:solidFill>
            <a:srgbClr val="7E3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54679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CE2D0"/>
                </a:solidFill>
                <a:latin typeface="Calibri"/>
              </a:rPr>
              <a:t>2.  마이크로 인플루언서 협업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75887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C9CF"/>
                </a:solidFill>
                <a:latin typeface="Calibri"/>
              </a:rPr>
              <a:t>성수 카페 투어 계정 대상 체험 협업 → [홍보] 인플루언서 퀘스트로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364991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D9A85A"/>
                </a:solidFill>
                <a:latin typeface="Calibri"/>
              </a:rPr>
              <a:t>2주 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80560"/>
            <a:ext cx="10881360" cy="1234440"/>
          </a:xfrm>
          <a:prstGeom prst="roundRect">
            <a:avLst/>
          </a:prstGeom>
          <a:solidFill>
            <a:srgbClr val="7E3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61772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CE2D0"/>
                </a:solidFill>
                <a:latin typeface="Calibri"/>
              </a:rPr>
              <a:t>3.  주말 웨이팅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38928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C9CF"/>
                </a:solidFill>
                <a:latin typeface="Calibri"/>
              </a:rPr>
              <a:t>VoC 부정 1위 "대기시간" 대응 — 치즈케이크 주말 증량 + 예상 대기시간 안내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828032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D9A85A"/>
                </a:solidFill>
                <a:latin typeface="Calibri"/>
              </a:rPr>
              <a:t>즉시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26769"/>
                </a:solidFill>
                <a:latin typeface="Calibri"/>
              </a:rPr>
              <a:t>DAILY BREW — 다음 회의: 인플루언서 후보 리스트 리뷰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